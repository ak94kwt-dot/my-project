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E6B54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97680"/>
            <a:ext cx="3657600" cy="3657600"/>
          </a:xfrm>
          <a:prstGeom prst="ellipse">
            <a:avLst/>
          </a:prstGeom>
          <a:solidFill>
            <a:srgbClr val="0C5C4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🛡️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1216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الديوانية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0" y="338328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اعرف ردة فعل جمهورك… قبل لا تنشر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منصة عربية تتوقّع نجاح المحتوى وتحذّر من أزماته — صناعة كويتية 🇰🇼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7F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الشريك المؤسس · سرّي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ينشر… ثم تنفجر الأزمة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A5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صانع المحتوى الخليجي ينشر «على بركة الله» — وما يكتشف الخطأ إلا بعد ما يصير الضرر.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أزمة لا رجعة فيها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تغريدة أو مقطع يولّع موجة غضب — والاعتذار ما يمحي الأثر.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256032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984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0" y="2788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مساءلة قانونية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0" y="3246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قانون الجرائم الإلكترونية ٦٣/٢٠١٥: غرامات وحبس على التشهير والإساءة.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4434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سمعة تنهار بثانية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سنين من بناء الجمهور تنهدم بمنشور واحد غير محسوب.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425196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698480" y="4434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🤷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فيه أداة تحذّره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0" y="4937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الأدوات الموجودة تصحّح بعد النشر — محد يحذّر قبله.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ديوانية افتراضية تتشاور قبل النشر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5A5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تدخل محتواك → جمهور خليجي حقيقي (مُحاكى بالذكاء الاصطناعي) يتفاعل معه لايف → تطلع لك ردة الفعل المتوقّعة + حكم واضح + تعديل واحد — كل هذا قبل لا تنشر.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65960" y="3063240"/>
            <a:ext cx="731520" cy="731520"/>
          </a:xfrm>
          <a:prstGeom prst="ellipse">
            <a:avLst/>
          </a:prstGeom>
          <a:solidFill>
            <a:srgbClr val="0E6B54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تكتب محتواك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9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فكرة، تغريدة، فيديو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35661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4343400" y="28346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0" y="3063240"/>
            <a:ext cx="731520" cy="731520"/>
          </a:xfrm>
          <a:prstGeom prst="ellipse">
            <a:avLst/>
          </a:prstGeom>
          <a:solidFill>
            <a:srgbClr val="0E6B54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2628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الديوانية تتشاور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9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٢٤ شخصية تتفاعل لايف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35661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8138160" y="28346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55480" y="3063240"/>
            <a:ext cx="731520" cy="731520"/>
          </a:xfrm>
          <a:prstGeom prst="ellipse">
            <a:avLst/>
          </a:prstGeom>
          <a:solidFill>
            <a:srgbClr val="0E6B54"/>
          </a:solidFill>
          <a:ln/>
        </p:spPr>
      </p:sp>
      <p:sp>
        <p:nvSpPr>
          <p:cNvPr id="19" name="Text 17"/>
          <p:cNvSpPr/>
          <p:nvPr/>
        </p:nvSpPr>
        <p:spPr>
          <a:xfrm>
            <a:off x="955548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2104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حكم + تعديل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9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انشر / عدّل / خطر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 الأساسية: «ما نوقفك… نخلّيك أذكى» — الديوانية مرآة مجتمع حيّة، مو رقيب.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4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الميزة القاتلة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رادار ردة الفعل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المنافسون يتوقّعون «هل بينجح؟». نحن نتوقّع «هل بينفجر؟» — ونحذّرك من الأزمة قبل وقوعها.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قانوني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401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تشهير، آداب عامة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6517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8660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907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ديني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3401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حساسية شرعية أو رمزية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26517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88136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☪️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12480" y="2907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مذهبي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0" y="3401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يمسّ شريحة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4507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اجتماعي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5001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عادات وعِرض وقبيلة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43400" y="42519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8660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17720" y="4507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سمعة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17720" y="5001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استعراض يضرّك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38160" y="42519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88136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12480" y="4507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توقيت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12480" y="5001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محرم، عاشوراء، عزاء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FA9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ستة أبعاد خطر تُفحص في كل محتوى — هذا اللي ما يسوّيه أي منافس عالمي.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المحرّك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٢٤ شخصية = مجتمع الكويت مصغّر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5A5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شخصية لها هوية ثقافية + وظيفة تخدم بُعداً من التوقّع + لهجة دقيقة مدقّقة من مصادر موثوقة.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66360" y="256032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🏙️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0" y="2450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سلطان، أم فهد، بو خالد، نورة، فيصل، جاسم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33172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44200" y="256032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☪️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18320" y="2450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مذهبي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حسين (شيعي)، الشيخ عبدالعزيز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66360" y="36118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🐫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3502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بدو/قبائل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متعب، هيا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38328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744200" y="36118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0" y="3502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نسائي + نفسي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840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سارة، د. منى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4663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0" y="4553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مقيمون + تنوّع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892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رامي، أبو عمار، جورج، عبدالرحمن، James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43484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744200" y="4663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🎩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18320" y="4553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نخبة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4892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 ناصر «الدون»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BF4E6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607040" y="5669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03920" y="5687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الطيف الكامل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2960" y="5715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A5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 أرشيتايبات: المطبّل، المتصيّد، المستفزّ…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السوق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الفئة انفجرت عالمياً… والعربي فاضي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BEDEB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المنافسون العالميون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90500" indent="-1905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A5142"/>
                </a:solidFill>
              </a:rPr>
              <a:t>Aaru (~مليار $)، Artificial Societies، Limbik، DeepMind Persona Generators</a:t>
            </a:r>
            <a:endParaRPr lang="en-US" sz="1300" dirty="0"/>
          </a:p>
          <a:p>
            <a:pPr algn="r" marL="190500" indent="-1905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A5142"/>
                </a:solidFill>
              </a:rPr>
              <a:t>كلهم إنجليزي / غربي بالكامل</a:t>
            </a:r>
            <a:endParaRPr lang="en-US" sz="1300" dirty="0"/>
          </a:p>
          <a:p>
            <a:pPr algn="r" marL="190500" indent="-1905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</a:rPr>
              <a:t>عيبهم القاتل باعترافهم: «الهلوسة الثقافية» — يتوقّعون غلط بثقة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AF5F0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الفرصة العربية (نحن)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69748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90500" indent="-1905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A4A40"/>
                </a:solidFill>
              </a:rPr>
              <a:t>المنطقة بيضاء: محد يتوقّع ردة الفعل الخليجية قبل النشر</a:t>
            </a:r>
            <a:endParaRPr lang="en-US" sz="1300" dirty="0"/>
          </a:p>
          <a:p>
            <a:pPr algn="r" marL="190500" indent="-1905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A4A40"/>
                </a:solidFill>
              </a:rPr>
              <a:t>الأدوات العربية إمّا توليد (Jais) أو رصد بعد النشر (ARIJ)</a:t>
            </a:r>
            <a:endParaRPr lang="en-US" sz="1300" dirty="0"/>
          </a:p>
          <a:p>
            <a:pPr algn="r" marL="190500" indent="-190500">
              <a:lnSpc>
                <a:spcPct val="130000"/>
              </a:lnSpc>
              <a:buSzPct val="100000"/>
              <a:buChar char="•"/>
            </a:pPr>
            <a:r>
              <a:rPr lang="en-US" sz="1300" b="1" dirty="0">
                <a:solidFill>
                  <a:srgbClr val="0E6B54"/>
                </a:solidFill>
              </a:rPr>
              <a:t>استراتيجية الكويت للذكاء الاصطناعي ٢٠٢٥–٢٠٢٨ تعطي أولوية لنماذج عربية محلّية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4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يُنسخ؟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الخندق = البيانات الثقافية المتراكمة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التقنية تُنسخ بسرعة. الثقافة المتراكمة من آلاف التفاعلات الحقيقية لا تُترجَم ولا تُنسخ.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عمق ثقافي حقيقي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192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لهجات مدقّقة + حساسيات مذهبية وقبلية بصدق، لا ترجمة سطحية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6060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9848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0" y="2834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 شبكي متراكم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0" y="33192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استخدام يحسّن الدقة — ميزة تكبر مع الوقت ويصعب اللحاق بها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4480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🇰🇼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علامة وطنية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9651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«صناعة كويتية» ثقة محلّية ما يقدر منافس أجنبي ينافسها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25196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698480" y="4480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0080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السرعة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0" y="49651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نبني أول ونتراكم قبل لا يلتفت أحد للسوق العربي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المنتج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هيك تطلع النتيجة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589520" y="1737360"/>
            <a:ext cx="4023360" cy="457200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0" y="2011680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BA7517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21214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عدّل 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863840" y="2505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احتمال الأزمة: ٢٨٪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63840" y="3017520"/>
            <a:ext cx="1691640" cy="777240"/>
          </a:xfrm>
          <a:prstGeom prst="roundRect">
            <a:avLst>
              <a:gd name="adj" fmla="val 5882"/>
            </a:avLst>
          </a:prstGeom>
          <a:solidFill>
            <a:srgbClr val="F3EEE3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9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فيرال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33649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٧/١٠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46920" y="3017520"/>
            <a:ext cx="1691640" cy="777240"/>
          </a:xfrm>
          <a:prstGeom prst="roundRect">
            <a:avLst>
              <a:gd name="adj" fmla="val 5882"/>
            </a:avLst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9646920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9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أمان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46920" y="33649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٧/١٠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863840" y="3977640"/>
            <a:ext cx="1216152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079992" y="3977640"/>
            <a:ext cx="694944" cy="292608"/>
          </a:xfrm>
          <a:prstGeom prst="rect">
            <a:avLst/>
          </a:prstGeom>
          <a:solidFill>
            <a:srgbClr val="9C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9774936" y="3977640"/>
            <a:ext cx="1563624" cy="29260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ناقد ٣٥٪ · محايد ٢٠٪ · مؤيد ٤٥٪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0" y="4709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😏 فيصل: عاد صدّقناك… الفكرة فيها ثغرة بالنص.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0" y="5166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🧕 أم فهد: عيب يمّه، يخزي العين عليك.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63840" y="5669280"/>
            <a:ext cx="3474720" cy="502920"/>
          </a:xfrm>
          <a:prstGeom prst="roundRect">
            <a:avLst>
              <a:gd name="adj" fmla="val 9091"/>
            </a:avLst>
          </a:prstGeom>
          <a:solidFill>
            <a:srgbClr val="FBF4E6"/>
          </a:solidFill>
          <a:ln w="9525">
            <a:solidFill>
              <a:srgbClr val="B886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5760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حوّل الاستعراض لقصة بدل التفاخر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1874520"/>
            <a:ext cx="411480" cy="411480"/>
          </a:xfrm>
          <a:prstGeom prst="ellipse">
            <a:avLst/>
          </a:prstGeom>
          <a:solidFill>
            <a:srgbClr val="0E6B54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1828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حكم واحد واضح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2194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9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انشر / عدّل / خطر — بثانية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2743200"/>
            <a:ext cx="411480" cy="411480"/>
          </a:xfrm>
          <a:prstGeom prst="ellipse">
            <a:avLst/>
          </a:prstGeom>
          <a:solidFill>
            <a:srgbClr val="0E6B54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2697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مؤشّران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3063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9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فيرال متوقّع + أمان ثقافي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66560" y="3611880"/>
            <a:ext cx="411480" cy="411480"/>
          </a:xfrm>
          <a:prstGeom prst="ellipse">
            <a:avLst/>
          </a:prstGeom>
          <a:solidFill>
            <a:srgbClr val="0E6B54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3566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انقسام المجتمع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9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 ناقد، محايد، مؤيد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4480560"/>
            <a:ext cx="411480" cy="411480"/>
          </a:xfrm>
          <a:prstGeom prst="ellipse">
            <a:avLst/>
          </a:prstGeom>
          <a:solidFill>
            <a:srgbClr val="0E6B54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" y="4434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أصوات حقيقية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4400" y="4800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9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ردود بلهجات مختلفة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66560" y="5349240"/>
            <a:ext cx="411480" cy="411480"/>
          </a:xfrm>
          <a:prstGeom prst="ellipse">
            <a:avLst/>
          </a:prstGeom>
          <a:solidFill>
            <a:srgbClr val="0E6B54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4400" y="5303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تعديل واحد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4400" y="5669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9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تغيير يرفع فرصتك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الرؤية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مجتمع افتراضي حيّ تتجوّل فيه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A5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 مجرد نتيجة — خريطة مجتمع تفاعلية تزوم فيها مثل قوقل مابس: من الكويت → المدينة → البيت، وتشوف وين تنتشر ردة الفعل ومن يتأثّر.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971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🗺️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قابلة للزوم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480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تدخل أعمق وأعمق لكل شريحة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27432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2971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🌊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 الانتشار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74720" y="4480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تشوف ردة الفعل وين توصل، حتى برّا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7432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971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♿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زوايا مهمّشة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63640" y="4480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منظور ذوي الاحتياجات والشرائح كلها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15400" y="27432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15400" y="2971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5256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 السوشال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052560" y="4480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تبيّن كيف ينتشر رقمياً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استعارة الطبّاخ: تتذوّق وتعدّل قبل لا تقدّم الطبق للناس.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4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الطموح التقني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 يطوّر نفسه تلقائياً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نبي برنامج نضبطه يدوياً كل يوم — نبيه يتعلّم من الاستخدام الحقيقي ويزيد دقّته مع كل توقّع.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2971800"/>
            <a:ext cx="731520" cy="73152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5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توقّع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الديوانية تعطي حكمها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08960" y="329184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2971800"/>
            <a:ext cx="731520" cy="73152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5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 فعلي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المستخدم ينشر ويشوف الواقع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0" y="329184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217920" y="274320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2971800"/>
            <a:ext cx="731520" cy="73152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5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نقارن التوقّع بالنتيجة الحقيقية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78240" y="329184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12680" y="2971800"/>
            <a:ext cx="731520" cy="731520"/>
          </a:xfrm>
          <a:prstGeom prst="ellipse">
            <a:avLst/>
          </a:prstGeom>
          <a:solidFill>
            <a:srgbClr val="B8862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1268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5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8972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معايرة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8972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المحرّك يصحّح نفسه تلقائياً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ضمان أساسي: الدقّة تتطوّر… القيم تبقى ثابتة (لا تجاوز للخطوط الحمراء أبداً).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 الأحمر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2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نصوّر النار… ما نشعلها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AF5F0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«الرأي ماله سقف، الطرح له حدود»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A4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نمثّل ردات الفعل القبيحة والحسّاسة بصدق (هذا هو التحذير = الرادار) — لكن لا ننتج إساءة طائفية أو تحريضاً حقيقياً أبداً.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394960" cy="1143000"/>
          </a:xfrm>
          <a:prstGeom prst="roundRect">
            <a:avLst>
              <a:gd name="adj" fmla="val 7200"/>
            </a:avLst>
          </a:prstGeom>
          <a:solidFill>
            <a:srgbClr val="EAF5F0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نسوّيه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نصوّر ردة الفعل المتوقّعة بصدق ونحذّر منها — حتى لو كانت قاسية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3566160"/>
            <a:ext cx="5394960" cy="1143000"/>
          </a:xfrm>
          <a:prstGeom prst="roundRect">
            <a:avLst>
              <a:gd name="adj" fmla="val 7200"/>
            </a:avLst>
          </a:prstGeom>
          <a:solidFill>
            <a:srgbClr val="EAF5F0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نسوّيه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القسوة على المحتوى: «محتواك ضعيف، احذفه»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5394960" cy="1143000"/>
          </a:xfrm>
          <a:prstGeom prst="roundRect">
            <a:avLst>
              <a:gd name="adj" fmla="val 7200"/>
            </a:avLst>
          </a:prstGeom>
          <a:solidFill>
            <a:srgbClr val="FBEDEB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ما نسوّيه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إنتاج إساءة لشخص: «أنت فاشل» — ممنوع منعاً باتاً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892040"/>
            <a:ext cx="5394960" cy="1143000"/>
          </a:xfrm>
          <a:prstGeom prst="roundRect">
            <a:avLst>
              <a:gd name="adj" fmla="val 7200"/>
            </a:avLst>
          </a:prstGeom>
          <a:solidFill>
            <a:srgbClr val="FBEDEB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ما نسوّيه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5440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5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تحريض طائفي حقيقي — مخالف للقانون ويقتل المشروع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4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E6B5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نبي شريك تقني مؤسّس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الفكرة، الأبحاث، المحرّك، الهوية، الرؤية — جاهزة. الناقص هو أنت: مؤسّس تقني يبني النسخة الحقيقية معنا.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جاهز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8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رؤية كاملة + محرّك ٢٤ شخصية + نموذج تجريبي شغّال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5876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0" y="4041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جاهز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0416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8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أبحاث سوق ومنافسين + خندق واضح + مبدأ قانوني وأخلاقي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7000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0" y="4882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المطلوب منك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8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المنتج على نماذج لغوية + خط معالجة البيانات + التعلّم الذاتي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5412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0C5C49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0" y="57241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العرض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7241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8F1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شراكة تأسيسية (حصة) — لا توظيف. نبنيها سوا من الصفر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DB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الديوانية 🛡️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الديوانية — عرض الشريك المؤسس</dc:title>
  <dc:subject>PptxGenJS Presentation</dc:subject>
  <dc:creator>الديوانية</dc:creator>
  <cp:lastModifiedBy>الديوانية</cp:lastModifiedBy>
  <cp:revision>1</cp:revision>
  <dcterms:created xsi:type="dcterms:W3CDTF">2026-06-16T23:35:45Z</dcterms:created>
  <dcterms:modified xsi:type="dcterms:W3CDTF">2026-06-16T23:35:45Z</dcterms:modified>
</cp:coreProperties>
</file>